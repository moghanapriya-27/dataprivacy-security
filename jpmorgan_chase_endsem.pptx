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368" r:id="rId4"/>
    <p:sldId id="369" r:id="rId5"/>
    <p:sldId id="370" r:id="rId6"/>
    <p:sldId id="372" r:id="rId7"/>
    <p:sldId id="375" r:id="rId8"/>
    <p:sldId id="374" r:id="rId9"/>
    <p:sldId id="373" r:id="rId10"/>
    <p:sldId id="3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29" y="-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4" name="Footer Placeholder 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JP MORGAN CHASE DATA BREACH –Case Study </a:t>
            </a:r>
            <a:endParaRPr lang="en-IN" sz="2400" b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TextBox 1"/>
          <p:cNvSpPr txBox="1">
            <a:spLocks noChangeArrowheads="1"/>
          </p:cNvSpPr>
          <p:nvPr/>
        </p:nvSpPr>
        <p:spPr bwMode="auto">
          <a:xfrm>
            <a:off x="233265" y="4862116"/>
            <a:ext cx="666205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S. SURESH KUMAR, M.E., Ph.D.,</a:t>
            </a:r>
          </a:p>
          <a:p>
            <a:pPr>
              <a:spcBef>
                <a:spcPct val="0"/>
              </a:spcBef>
              <a:buClrTx/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 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I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"/>
          <p:cNvSpPr txBox="1">
            <a:spLocks noChangeArrowheads="1"/>
          </p:cNvSpPr>
          <p:nvPr/>
        </p:nvSpPr>
        <p:spPr bwMode="auto">
          <a:xfrm>
            <a:off x="7124611" y="4918967"/>
            <a:ext cx="544994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Sangamithra V 231801147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Moghanapriya R 231801102</a:t>
            </a:r>
          </a:p>
        </p:txBody>
      </p:sp>
      <p:sp>
        <p:nvSpPr>
          <p:cNvPr id="15" name="Title 1"/>
          <p:cNvSpPr txBox="1"/>
          <p:nvPr/>
        </p:nvSpPr>
        <p:spPr>
          <a:xfrm>
            <a:off x="708891" y="1213137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</a:t>
            </a:r>
            <a:r>
              <a:rPr lang="en-US" altLang="en-IN" sz="28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Artificial Intelligence and Data Science</a:t>
            </a:r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65" y="149225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Motivation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financial institutions face increasing cyber threats targeting sensitive customer data.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security misconfiguration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expose millions of records.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security systems often fail due to inconsistent enforcement.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Motivation: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how real-world cyberattacks happen.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weaknesses in authentication and network security.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how to design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secure, scalable, and resilient systems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Sem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Artificial Intelligence and Data Science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Relied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perimeter-based security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Incomplete implementation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Multi-Factor Authentication (MFA)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security policies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all servers.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and threat detection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segmentation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attackers to move laterally. 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vulnerable server compromised the entire network.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End Sem</a:t>
            </a:r>
            <a:endParaRPr lang="en-US" alt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Artificial Intelligence and Data Science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cause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breach.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role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failures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modern security concepts like: 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Trust Security 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Segmentation 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SIEM (Security Monitoring)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cybersecurity strategies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awareness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system design principles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defRPr/>
            </a:pPr>
            <a:b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End Sem</a:t>
            </a:r>
            <a:endParaRPr lang="en-US" alt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Artificial Intelligence and Data Science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4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ct val="0"/>
              </a:spcBef>
              <a:buClr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CC0000"/>
              </a:buClr>
              <a:defRPr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JPMorgan Chase breach (2014) exposed data of over 76 million households. </a:t>
            </a:r>
          </a:p>
          <a:p>
            <a:pPr>
              <a:buClr>
                <a:srgbClr val="CC0000"/>
              </a:buClr>
              <a:defRPr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Attackers exploited a server without MFA. </a:t>
            </a:r>
          </a:p>
          <a:p>
            <a:pPr>
              <a:buClr>
                <a:srgbClr val="CC0000"/>
              </a:buClr>
              <a:defRPr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Gained unauthorized access and moved across systems. </a:t>
            </a:r>
          </a:p>
          <a:p>
            <a:pPr>
              <a:buClr>
                <a:srgbClr val="CC0000"/>
              </a:buClr>
              <a:defRPr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financial data stolen, but personal information was exposed. </a:t>
            </a:r>
          </a:p>
          <a:p>
            <a:pPr>
              <a:buClr>
                <a:srgbClr val="CC0000"/>
              </a:buClr>
              <a:defRPr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case highlights: </a:t>
            </a:r>
          </a:p>
          <a:p>
            <a:pPr>
              <a:buClr>
                <a:srgbClr val="CC0000"/>
              </a:buClr>
              <a:defRPr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consistent security implementation </a:t>
            </a:r>
          </a:p>
          <a:p>
            <a:pPr>
              <a:buClr>
                <a:srgbClr val="CC0000"/>
              </a:buClr>
              <a:defRPr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advanced monitoring systems </a:t>
            </a:r>
          </a:p>
          <a:p>
            <a:pPr>
              <a:buClr>
                <a:srgbClr val="CC0000"/>
              </a:buClr>
              <a:defRPr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role of authentication mechanisms</a:t>
            </a:r>
          </a:p>
          <a:p>
            <a:pPr marL="0" lvl="0" indent="0">
              <a:spcBef>
                <a:spcPct val="0"/>
              </a:spcBef>
              <a:buClr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defRPr/>
            </a:pPr>
            <a:b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52938" y="6245225"/>
            <a:ext cx="2101461" cy="307974"/>
          </a:xfrm>
        </p:spPr>
        <p:txBody>
          <a:bodyPr/>
          <a:lstStyle/>
          <a:p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End Sem</a:t>
            </a:r>
            <a:endParaRPr lang="en-US" alt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Artificial Intelligence and Data Science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5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rchitecture(framework)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6232" y="1520825"/>
            <a:ext cx="11148959" cy="4590725"/>
          </a:xfrm>
        </p:spPr>
        <p:txBody>
          <a:bodyPr/>
          <a:lstStyle/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Layer </a:t>
            </a:r>
          </a:p>
          <a:p>
            <a:pPr lvl="1"/>
            <a:r>
              <a:rPr lang="en-I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Multi-Factor Authentication (MFA) </a:t>
            </a:r>
          </a:p>
          <a:p>
            <a:pPr lvl="1"/>
            <a:r>
              <a:rPr lang="en-I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Identity Verification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Layer </a:t>
            </a:r>
          </a:p>
          <a:p>
            <a:pPr lvl="1"/>
            <a:r>
              <a:rPr lang="en-I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Firewalls </a:t>
            </a:r>
          </a:p>
          <a:p>
            <a:pPr lvl="1"/>
            <a:r>
              <a:rPr lang="en-I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Network Segmentation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Layer </a:t>
            </a:r>
          </a:p>
          <a:p>
            <a:pPr lvl="1"/>
            <a:r>
              <a:rPr lang="en-I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SIEM Systems </a:t>
            </a:r>
          </a:p>
          <a:p>
            <a:pPr lvl="1"/>
            <a:r>
              <a:rPr lang="en-I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Real-time Alert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End Sem</a:t>
            </a:r>
            <a:endParaRPr lang="en-US" alt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Artificial Intelligence and Data Science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41D64B-4BD4-01AD-E3D7-33369B5A41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530" y="2535334"/>
            <a:ext cx="5056414" cy="337094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C57EC-EBFD-B5FB-F5C0-5C8EB655A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IN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rchitecture</a:t>
            </a:r>
            <a:r>
              <a:rPr lang="en-US" alt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(framework)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54FA6-6836-7CD6-1700-9396D5EA9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Sem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55A18-6884-58FC-6776-E89C90E4A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Artificial Intelligence and Data Science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BC0F7-3C3F-F530-4E3F-50C3F6180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7</a:t>
            </a:fld>
            <a:endParaRPr lang="en-US" alt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A906909-BF79-9063-3727-6B22764128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5651" y="2408872"/>
            <a:ext cx="4498347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71170" marR="0" lvl="1" indent="0" defTabSz="914400" latinLnBrk="0">
              <a:lnSpc>
                <a:spcPct val="100000"/>
              </a:lnSpc>
              <a:buSzTx/>
              <a:buNone/>
              <a:tabLst/>
            </a:pPr>
            <a:r>
              <a:rPr lang="en-US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Application Layer </a:t>
            </a:r>
          </a:p>
          <a:p>
            <a:pPr marR="0" lvl="1" defTabSz="914400" latinLnBrk="0">
              <a:lnSpc>
                <a:spcPct val="100000"/>
              </a:lnSpc>
              <a:buSzTx/>
              <a:tabLst/>
            </a:pPr>
            <a:r>
              <a:rPr lang="en-US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  <a:r>
              <a:rPr lang="en-US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Secure APIs </a:t>
            </a:r>
          </a:p>
          <a:p>
            <a:pPr marR="0" lvl="1" defTabSz="914400" latinLnBrk="0">
              <a:lnSpc>
                <a:spcPct val="100000"/>
              </a:lnSpc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Encrypted Communication </a:t>
            </a:r>
          </a:p>
          <a:p>
            <a:pPr marL="471170" marR="0" lvl="1" indent="0" defTabSz="914400" latinLnBrk="0">
              <a:lnSpc>
                <a:spcPct val="100000"/>
              </a:lnSpc>
              <a:buSzTx/>
              <a:buNone/>
              <a:tabLst/>
            </a:pPr>
            <a:r>
              <a:rPr lang="en-US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Data Layer </a:t>
            </a:r>
          </a:p>
          <a:p>
            <a:pPr marR="0" lvl="1" defTabSz="914400" latinLnBrk="0">
              <a:lnSpc>
                <a:spcPct val="100000"/>
              </a:lnSpc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Encrypted Databases </a:t>
            </a:r>
          </a:p>
          <a:p>
            <a:pPr marR="0" lvl="1" defTabSz="914400" latinLnBrk="0">
              <a:lnSpc>
                <a:spcPct val="100000"/>
              </a:lnSpc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Access Control Policies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343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CC0000"/>
              </a:buClr>
              <a:defRPr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MFA, Tokens</a:t>
            </a:r>
          </a:p>
          <a:p>
            <a:pPr marL="0" lvl="0" indent="0">
              <a:buClr>
                <a:srgbClr val="CC0000"/>
              </a:buClr>
              <a:buNone/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lr>
                <a:srgbClr val="CC0000"/>
              </a:buClr>
              <a:defRPr/>
            </a:pPr>
            <a:r>
              <a:rPr kumimoji="0" lang="en-I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Control: </a:t>
            </a:r>
            <a:r>
              <a:rPr kumimoji="0" lang="en-IN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Roles,Least</a:t>
            </a:r>
            <a: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Privilege</a:t>
            </a:r>
          </a:p>
          <a:p>
            <a:pPr marL="0" lvl="0" indent="0">
              <a:buClr>
                <a:srgbClr val="CC0000"/>
              </a:buClr>
              <a:buNone/>
              <a:defRPr/>
            </a:pP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lr>
                <a:srgbClr val="CC0000"/>
              </a:buClr>
              <a:defRPr/>
            </a:pPr>
            <a:r>
              <a:rPr kumimoji="0" lang="en-I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Network Security: </a:t>
            </a:r>
            <a:r>
              <a:rPr kumimoji="0" lang="en-IN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Firewall,Segmentation</a:t>
            </a: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Clr>
                <a:srgbClr val="CC0000"/>
              </a:buClr>
              <a:buNone/>
              <a:defRPr/>
            </a:pP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lr>
                <a:srgbClr val="CC0000"/>
              </a:buClr>
              <a:defRPr/>
            </a:pPr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Monitoring: </a:t>
            </a:r>
            <a:r>
              <a:rPr lang="en-IN" alt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Logs,SIEM</a:t>
            </a:r>
            <a:endParaRPr lang="en-I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Clr>
                <a:srgbClr val="CC0000"/>
              </a:buClr>
              <a:buNone/>
              <a:defRPr/>
            </a:pPr>
            <a:endParaRPr lang="en-IN" alt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lr>
                <a:srgbClr val="CC0000"/>
              </a:buClr>
              <a:defRPr/>
            </a:pPr>
            <a:r>
              <a:rPr kumimoji="0" lang="en-I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Incident Response: </a:t>
            </a:r>
            <a:r>
              <a:rPr kumimoji="0" lang="en-IN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Alerts,Recovery</a:t>
            </a:r>
            <a: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End Sem</a:t>
            </a:r>
            <a:endParaRPr lang="en-US" alt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Artificial Intelligence and Data Science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8</a:t>
            </a:fld>
            <a:endParaRPr lang="en-IN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1CC9A485-2570-0395-202F-15C8ED98F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31477"/>
            <a:ext cx="1066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2740DD98-DC4B-0500-FDEC-960D69087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5452" y="236602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2A6EE11C-375D-562C-1141-F137D1321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FEDF8026-E2C9-F939-3679-9589AA9C0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Lessons Learned: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security gaps can cause massive breaches.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is the first and most critical defense.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be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consistent, continuous, and comprehensive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Conclusion: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JPMorgan Chase breach is a landmark cybersecurity case.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transformed security practices: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MFA, Zero Trust, and continuous monitoring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is not optional—it is essential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End Sem</a:t>
            </a:r>
            <a:endParaRPr lang="en-US" alt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Artificial Intelligence and Data Science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9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Artificial Intelligence and Data Science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t>10</a:t>
            </a:fld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End Sem</a:t>
            </a:r>
            <a:endParaRPr lang="en-US" alt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6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7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8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504</Words>
  <Application>Microsoft Office PowerPoint</Application>
  <PresentationFormat>Widescreen</PresentationFormat>
  <Paragraphs>111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Times New Roman</vt:lpstr>
      <vt:lpstr>Verdana</vt:lpstr>
      <vt:lpstr>Wingdings</vt:lpstr>
      <vt:lpstr>Profile</vt:lpstr>
      <vt:lpstr>PowerPoint Presentation</vt:lpstr>
      <vt:lpstr>Problem Statement and Motivation</vt:lpstr>
      <vt:lpstr>Existing System</vt:lpstr>
      <vt:lpstr>Objectives</vt:lpstr>
      <vt:lpstr>Abstract</vt:lpstr>
      <vt:lpstr>Architecture(framework)</vt:lpstr>
      <vt:lpstr>Architecture(framework)</vt:lpstr>
      <vt:lpstr>Module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DURAI MURUGAN N</dc:creator>
  <cp:lastModifiedBy>moghanapriyarethinakumar@gmail.com</cp:lastModifiedBy>
  <cp:revision>13</cp:revision>
  <dcterms:created xsi:type="dcterms:W3CDTF">2025-11-22T14:54:41Z</dcterms:created>
  <dcterms:modified xsi:type="dcterms:W3CDTF">2026-05-11T14:25:51Z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1033-5.0.0.7908</vt:lpwstr>
  </property>
</Properties>
</file>